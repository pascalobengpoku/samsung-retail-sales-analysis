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61" r:id="rId9"/>
    <p:sldId id="262" r:id="rId10"/>
    <p:sldId id="272" r:id="rId11"/>
    <p:sldId id="263" r:id="rId12"/>
    <p:sldId id="273" r:id="rId13"/>
    <p:sldId id="264" r:id="rId14"/>
    <p:sldId id="274" r:id="rId15"/>
    <p:sldId id="265" r:id="rId16"/>
    <p:sldId id="275" r:id="rId17"/>
    <p:sldId id="276" r:id="rId18"/>
    <p:sldId id="277" r:id="rId19"/>
    <p:sldId id="266" r:id="rId20"/>
    <p:sldId id="267" r:id="rId21"/>
    <p:sldId id="268" r:id="rId22"/>
    <p:sldId id="269" r:id="rId23"/>
    <p:sldId id="278" r:id="rId24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2773-FC7E-C173-2739-D27219B3D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80CC2-D589-9B19-B8D0-CB720794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E23E-A549-C99B-D7AB-F91F7004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81D4A-9CFC-1771-461E-F02DAFFC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D2A05-18E5-1ED9-C7D2-BAE3A787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6626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CC4FE-8F66-6488-A086-951C80B2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3A0CE-8C2D-B8D3-FB05-E1F199614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81B75-F848-FC17-94D9-57DABAE1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B4291-F0CC-B1DB-CEA7-182E7A85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41F48-FA4E-CE71-9AA3-30C8F3F0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760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193C-29CA-E55A-9C57-08523B8E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E92E5-A24F-5672-6992-492F46669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6CB9-AA41-F602-7D22-4A7FD016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EA25A-0344-7FAB-4619-06935E1F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BBCE3-CB7F-3AF2-BAA7-452DA00C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0175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D38E-17C5-AE8F-AF51-97BFAA0B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FE99A-49B8-715E-91C2-DB806D55F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ABC31-1501-69A7-B6BC-552D159AE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887BD-F1DC-C6C9-C174-9846C123E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2CB35-40DF-A529-3D19-E726EC0A5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3B7C7-6D22-F364-A593-ED75B38A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3800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BC96-438D-F249-36FD-5F975755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DBBC2-437B-8992-4E7D-3A736FF9F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15F5C-99F2-E61C-DEB5-50CE4B68B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E6211-F634-C445-E12C-8CB6BEA52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72439-1BFB-0CB5-B632-DB8BBCA6D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297F7-BCA8-6868-3835-67EEAA1B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96303-F5D1-A2AB-FDAD-4492E12E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2A1D1-3531-ACCF-00E6-C01CE114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8709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BA9B-23FA-D937-9CE2-A411354B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104FF-A035-2893-9275-9B808BA9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454ED-D20E-D59F-C82E-559BAC0A2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CBDC8-C50E-4642-A98B-C9748CD0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878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3541-F3C5-CB50-AA2F-9C3DB6E40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1468D-788B-C84C-B878-7FDBA32AB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64248-058C-56D0-221B-B82C2208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2538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FF73-AA78-22E0-EB8A-2E185DB3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039B-D241-A0AB-C166-C1E955C75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4F538-CCF0-7D6F-D531-CE410750E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1E4AC-A7CF-B342-3EF8-D0BFCEF4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6ED2C-8E40-2347-2862-2E19906C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E42CD-2A42-ED1D-394D-65ED6D75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0930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3A2E-8296-FDD1-E749-B096131F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9BF1B-99CB-E909-4356-28F5A8FB7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E78F3-6B61-4A04-8468-F5708D59C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62558-0BEA-AF28-8B56-1A4671D6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FCF47-5ADA-83CC-2513-11298B18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29A38-84B7-4DCA-99CD-026BD6A1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2622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45FB-9860-97E0-58B8-1CBA5C9B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A3BFD-BB96-894D-633F-EDF1E5E25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87E3B-ADC3-56E7-D1EC-C9A10222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B240-636E-A6AC-58EC-1F6EBE20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B15EB-BA67-70E7-4355-2CC42E47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5876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628BE-A37B-D837-7C10-C2BCE10D3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44123-FBE9-7220-DCDD-AAC261402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1CA53-F862-2A05-EB78-1AE2AE827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18748-9366-76A1-8FEE-25E6ACB5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80A84-B998-BB18-0A74-82D505B2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7584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468BCD-3D3C-C3FE-7395-15F43957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9F9CD-E66F-DDE1-4D15-4722A06B5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DDBE0-0430-1955-50D5-D21C1D21B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25DBB-12FF-4644-B740-423199C6E9A0}" type="datetimeFigureOut">
              <a:rPr lang="en-GH" smtClean="0"/>
              <a:t>26/03/2026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CAD18-27E9-165D-BB9A-E5BF83A48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20452-70E6-6385-054D-074399233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8145B-C51E-6544-AD79-8926E1A2F73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49051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3DC-9AF3-97AF-B327-1CD2BA1D14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H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SAMSUNG SALES PERFORMANCE &amp; FORECAST REPORT</a:t>
            </a:r>
            <a:r>
              <a:rPr lang="en-GH" sz="2400" dirty="0">
                <a:effectLst/>
              </a:rPr>
              <a:t> </a:t>
            </a:r>
            <a:endParaRPr lang="en-GH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04B11-B171-E3D2-7DD1-7DB2AA1FA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GH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report presents a comprehensive analysis of Samsung’s sales performance across products, regions, categories, channels, and time, along with a forward-looking revenue forecast to guide strategic growth</a:t>
            </a:r>
            <a:r>
              <a:rPr lang="en-GH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H" sz="16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E5498-5915-999B-7F0C-5842B154C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501" y="1122363"/>
            <a:ext cx="6216998" cy="177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4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249B-4219-6813-8049-671ADC94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900"/>
          </a:xfrm>
        </p:spPr>
        <p:txBody>
          <a:bodyPr anchor="t">
            <a:normAutofit/>
          </a:bodyPr>
          <a:lstStyle/>
          <a:p>
            <a:pPr algn="ctr"/>
            <a:r>
              <a:rPr lang="en-GH" sz="3600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7FF6-157F-1353-EC54-D79C904D0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723" y="1427967"/>
            <a:ext cx="10765077" cy="4748996"/>
          </a:xfrm>
        </p:spPr>
        <p:txBody>
          <a:bodyPr>
            <a:normAutofit lnSpcReduction="10000"/>
          </a:bodyPr>
          <a:lstStyle/>
          <a:p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Metrics: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Quantity Sold: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10,733 units</a:t>
            </a: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Revenue: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$6,705,162.94</a:t>
            </a: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 Insight: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Projected 2025 Revenue: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$5,827,406.92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Takeaways: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Premium products (Foldables &amp; Ultra models) are the primary revenue drivers.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Europe and Asia dominate regional performance.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exhibit strong seasonal patterns.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is stable year-over-year, indicating a mature market.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Forecast suggests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moderate growth with opportunities for strategic expansion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24B25-A6CB-2073-7C09-29C2FDB5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556" y="6258761"/>
            <a:ext cx="918488" cy="26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2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830B-ACB0-BF1F-4778-A038B232D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5056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H" sz="40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BUSINESS OBJECTIVE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C599C-5845-7D39-32B2-EE29BA5E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182"/>
            <a:ext cx="10515600" cy="48867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i="1" dirty="0">
                <a:solidFill>
                  <a:srgbClr val="8C8C8C"/>
                </a:solidFill>
                <a:effectLst/>
              </a:rPr>
              <a:t>Business Problem and Questions to ask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#How can the company increase smartphone sales and revenue across regions, products, and customer segments?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#This dataset can help the business understand: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#Which products sell the most?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#Which regions generate the most revenue?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#Which customer segments buy more?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#Whether discounts increase sales?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#Which sales channels perform best?</a:t>
            </a:r>
            <a:br>
              <a:rPr lang="en-GB" i="1" dirty="0">
                <a:solidFill>
                  <a:srgbClr val="8C8C8C"/>
                </a:solidFill>
                <a:effectLst/>
              </a:rPr>
            </a:br>
            <a:r>
              <a:rPr lang="en-GB" i="1" dirty="0">
                <a:solidFill>
                  <a:srgbClr val="8C8C8C"/>
                </a:solidFill>
                <a:effectLst/>
              </a:rPr>
              <a:t>#Whether returns or low ratings affect revenue?</a:t>
            </a:r>
            <a:endParaRPr lang="en-GB" dirty="0">
              <a:solidFill>
                <a:srgbClr val="080808"/>
              </a:solidFill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87DFCC-9590-077C-1487-C72641541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5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1E77-F0CE-4741-0B5B-E02E625B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957"/>
          </a:xfrm>
        </p:spPr>
        <p:txBody>
          <a:bodyPr anchor="t">
            <a:no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PERFORMANCE OVERVIEW</a:t>
            </a:r>
            <a:br>
              <a:rPr lang="en-GH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1CDEF-ADE1-D84F-7402-FB8FE8DBA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93" y="1465545"/>
            <a:ext cx="10827707" cy="4711418"/>
          </a:xfrm>
        </p:spPr>
        <p:txBody>
          <a:bodyPr/>
          <a:lstStyle/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 Performance</a:t>
            </a:r>
            <a:endParaRPr lang="en-GH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Top-performing products are dominated by </a:t>
            </a: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Galaxy Z Fold and Galaxy S Ultra series</a:t>
            </a: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Premium pricing strategy is highly effective.</a:t>
            </a:r>
          </a:p>
          <a:p>
            <a:pPr marL="0" indent="0">
              <a:buNone/>
            </a:pPr>
            <a:endParaRPr lang="en-GH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Implication:</a:t>
            </a:r>
            <a:b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growth is currently </a:t>
            </a: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driven by high-value devices rather than volume alone</a:t>
            </a: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GH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D6C70-9F60-BE1C-D520-097CB4857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9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95E5-2C14-001A-CF46-8DAC4114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D00143-D569-1F4D-08AE-DEC2C61DD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8191" y="1067844"/>
            <a:ext cx="7515617" cy="4722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BFB9B6-A57A-3657-38A9-33A1BC32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8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5E99-611D-196D-A4B1-2FB3A91E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1905"/>
          </a:xfrm>
        </p:spPr>
        <p:txBody>
          <a:bodyPr anchor="t">
            <a:no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REGIONAL PERFORMANCE</a:t>
            </a:r>
            <a:br>
              <a:rPr lang="en-GH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FA40-AEE3-7138-AB4E-0E972EAE4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Europe ($2.39M)</a:t>
            </a: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Asia ($1.90M)</a:t>
            </a: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the strongest markets.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Emerging regions (Africa, South America) show growth potential.</a:t>
            </a:r>
          </a:p>
          <a:p>
            <a:pPr marL="0" indent="0">
              <a:buNone/>
            </a:pPr>
            <a:endParaRPr lang="en-GH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Implication:</a:t>
            </a:r>
            <a:b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Samsung has strong market penetration in developed regions but </a:t>
            </a:r>
            <a:r>
              <a:rPr lang="en-GH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untapped potential in emerging markets</a:t>
            </a:r>
            <a:r>
              <a:rPr lang="en-GH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GH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18C42-DCC7-EC1D-E85C-DD4C9755F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5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BB8E-C0EC-07D9-08E8-82932006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3824FA-CE13-B7BC-8F44-2EE656FEA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5979" y="1185862"/>
            <a:ext cx="7240042" cy="448627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DA2D9A-97FA-DF96-80B1-700D7A86F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03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58A8-5EBA-064E-8AE6-33DD3DF0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4222"/>
          </a:xfrm>
        </p:spPr>
        <p:txBody>
          <a:bodyPr anchor="t">
            <a:no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CATEGORY PERFORMANCE</a:t>
            </a:r>
            <a:br>
              <a:rPr lang="en-GH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981CA-151C-8E4D-55B3-55DF637C9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23" y="1528175"/>
            <a:ext cx="10515600" cy="4124566"/>
          </a:xfrm>
        </p:spPr>
        <p:txBody>
          <a:bodyPr/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Smart TVs lead revenue ($5.56M), followed by Galaxy S and Galaxy Z.</a:t>
            </a: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Implication: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Samsung benefits from a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diversified ecosystem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enabling cross-selling opportunities.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C999F-83E5-1E31-B83B-FCAB5E235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5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84BA-3AF9-66D2-C40D-626D823C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801"/>
          </a:xfrm>
        </p:spPr>
        <p:txBody>
          <a:bodyPr anchor="t">
            <a:no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SALES CHANNELS</a:t>
            </a:r>
            <a:br>
              <a:rPr lang="en-GH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B3EB-EB86-FE75-B783-34E4B8A87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649"/>
            <a:ext cx="10515600" cy="4661314"/>
          </a:xfrm>
        </p:spPr>
        <p:txBody>
          <a:bodyPr/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is evenly distributed across all channels.</a:t>
            </a: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Implication: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strong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omnichannel strategy reduces dependency risk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stabilizes revenue streams.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A2F4C-9639-F6C5-DCDB-0BA60E01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3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05B9-8518-6B0B-9DA7-AB700A94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610FE9-8682-22EA-5BF0-78FE97E92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460" y="1061494"/>
            <a:ext cx="7979080" cy="47350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8C042D-0CED-105F-333F-42BC915E9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38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AD60-3DCB-9AC7-B933-8440A466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4848"/>
          </a:xfrm>
        </p:spPr>
        <p:txBody>
          <a:bodyPr anchor="t">
            <a:no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MONTHLY TRENDS</a:t>
            </a:r>
            <a:b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</a:br>
            <a:endParaRPr lang="en-GH" sz="3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AF62-E47D-EBA8-30E6-FA1FABDE5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019"/>
            <a:ext cx="10515600" cy="4723944"/>
          </a:xfrm>
        </p:spPr>
        <p:txBody>
          <a:bodyPr/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Months: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October, January, December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Lowest Month: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February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Implication: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is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seasonally driven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with strong Q4 performance.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9AA9D-1A0B-6220-DEE8-4FA2AE82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46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110B-CF95-1C78-EEB8-46C2081F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A21D4-D900-8066-C6C4-E4D56D04EC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3726" y="1019604"/>
            <a:ext cx="8204548" cy="481879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9AF741-BE47-9C69-2F5A-20067DBFF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7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6FC4-C75A-7E09-273F-572B1EDD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478"/>
          </a:xfrm>
        </p:spPr>
        <p:txBody>
          <a:bodyPr anchor="t">
            <a:no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YEARLY TRENDS</a:t>
            </a:r>
            <a:br>
              <a:rPr lang="en-GH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F208-FFB9-0011-3713-D1EB37B6C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remains stable between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$5.59M – $5.87M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Slight dip observed in 2024</a:t>
            </a: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Implication: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Samsung operates in a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mature and competitive market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requiring innovation for growth.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930483-04E3-F2EE-CB61-B939B71DF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64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2F8D-3B2B-B8C9-3784-29833987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4251C-89FF-61FC-CCB1-21AE2C971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3726" y="975763"/>
            <a:ext cx="8204547" cy="490647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9D2B63-8975-DAF5-D3C3-7FB23FD0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63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6AC7-6D6A-965F-55D3-4CF66E78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009"/>
          </a:xfrm>
        </p:spPr>
        <p:txBody>
          <a:bodyPr anchor="t">
            <a:norm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FORECASTING ANALYSIS</a:t>
            </a:r>
            <a:endParaRPr lang="en-GH" sz="3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E3D24-F060-3C79-579A-6328F580D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024"/>
            <a:ext cx="10515600" cy="5123145"/>
          </a:xfrm>
        </p:spPr>
        <p:txBody>
          <a:bodyPr/>
          <a:lstStyle/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Used: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Regression (trend-based forecasting)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Prophet (time-series forecasting with seasonality)</a:t>
            </a:r>
          </a:p>
          <a:p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 models produced consistent results, increasing confidence in projections.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2025 Revenue Forecast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Projected Revenue: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$5,827,406.92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Slight decrease compared to 2023 peak (~$5.87M)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Indicates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stagnation rather than strong growth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A4594-8080-CC45-39A6-9440263D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40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6641-79DB-56D0-79DB-40C4E656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001B21-56B9-0CD4-CA64-29AC6B07E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728" y="1070143"/>
            <a:ext cx="8442543" cy="471771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4D47B1-16A1-F534-4C9B-CDDF53D36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4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FE8F-481A-9D9B-C1B9-98B20AAA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D185DE-F363-1501-0781-C156EAF95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523" y="623170"/>
            <a:ext cx="8880953" cy="561166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DDC5AF-EEE8-9E5C-EC65-AB5100371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16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EBA9-C770-215E-79C8-A2046834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248DF3-2BA9-D09A-CFC7-299DFDFE3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816" y="365125"/>
            <a:ext cx="9469677" cy="58118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0AF1DF-41C5-4F80-4D8B-05A9CD0CC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30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342A-64C7-E4FC-39F6-BC454190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587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FORECAST INSIGHTS &amp; BUSINESS IMPLICATIONS</a:t>
            </a:r>
            <a:b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</a:br>
            <a:endParaRPr lang="en-GH" sz="3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8B9F-B298-DE81-7B09-383A063B5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712"/>
            <a:ext cx="10515600" cy="5428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 Plateau Risk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forecast suggests: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growth is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flattening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 may be approaching saturation</a:t>
            </a:r>
          </a:p>
          <a:p>
            <a:pPr marL="0" indent="0">
              <a:buNone/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Risk: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intervention, revenue may stagnate or decline.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Dependence on Premium Products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reliance on flagship devices</a:t>
            </a: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Risk: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Economic downturns could reduce demand for premium products.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Seasonal Dependence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Strong reliance on Q4 performance</a:t>
            </a: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Risk:</a:t>
            </a:r>
            <a:b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volatility if peak season underperforms.</a:t>
            </a: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1003D8-97A2-CBC2-FD9E-DC7ACB3D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7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3688-C8BD-3CCE-2F9C-DC0F3B9B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74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STRATEGIC GROWTH OPPORTUNITIES</a:t>
            </a:r>
            <a:b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</a:br>
            <a:endParaRPr lang="en-GH" sz="3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6C532-D8CF-463A-D6D1-D6E2CEF1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68"/>
            <a:ext cx="10515600" cy="50370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 Mid-Range Product Strategy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 competitively priced devices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price-sensitive markets</a:t>
            </a: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Increase volume sales and market share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Accelerate Growth in Emerging Markets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on Africa and South America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Localize pricing and marketing</a:t>
            </a: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Unlock new revenue streams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Maximize Peak Season Revenue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Launch flagship devices before Q4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Increase marketing spend in high-performing months</a:t>
            </a:r>
          </a:p>
          <a:p>
            <a:pPr marL="0" indent="0">
              <a:buNone/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Boost seasonal revenue spikes</a:t>
            </a: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77BE8-50A2-519D-6E98-FF0581EF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35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A71C2-FE63-B380-8195-E0E269FE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951A-180A-D512-08A4-A39C398A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74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STRATEGIC GROWTH OPPORTUNITIES II</a:t>
            </a:r>
            <a:b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</a:br>
            <a:endParaRPr lang="en-GH" sz="3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3BBED-C1DF-A9B4-A374-D5BB89B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68"/>
            <a:ext cx="10515600" cy="5037095"/>
          </a:xfrm>
        </p:spPr>
        <p:txBody>
          <a:bodyPr>
            <a:normAutofit/>
          </a:bodyPr>
          <a:lstStyle/>
          <a:p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Strengthen Product Ecosystem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Bundle smartphones with TVs, tablets, and accessories</a:t>
            </a: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Increase average transaction value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 Customer Retention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product quality and ratings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return rates</a:t>
            </a: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Protect and grow long-term revenue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Optimize Pricing &amp; Discounts</a:t>
            </a: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targeted, data-driven discounts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excessive price reductions</a:t>
            </a:r>
          </a:p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Impact:</a:t>
            </a: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Maintain profitability while driving demand</a:t>
            </a:r>
          </a:p>
          <a:p>
            <a:pPr marL="0" indent="0">
              <a:buNone/>
            </a:pPr>
            <a:endParaRPr lang="en-GH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00FD4-B633-560C-FC64-95AFAD04F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2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1867-8387-FA11-DAA2-0A12CBE6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859D-B80A-C541-CD45-944CEDC4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743"/>
          </a:xfrm>
        </p:spPr>
        <p:txBody>
          <a:bodyPr anchor="t">
            <a:normAutofit/>
          </a:bodyPr>
          <a:lstStyle/>
          <a:p>
            <a:pPr algn="ctr"/>
            <a:r>
              <a:rPr lang="en-GH" sz="3600" b="1" kern="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STRATEGIC RECOMMENDATIONS</a:t>
            </a:r>
            <a:endParaRPr lang="en-GH" sz="3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545E6-5CB4-90C2-A848-0A9BA00D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68"/>
            <a:ext cx="10515600" cy="5037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H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Executive Summary</a:t>
            </a: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increase revenue beyond the forecasted plateau, Samsung should:</a:t>
            </a:r>
          </a:p>
          <a:p>
            <a:pPr marL="0" indent="0">
              <a:buNone/>
            </a:pPr>
            <a:endParaRPr lang="en-GH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Diversify beyond premium products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 aggressively into emerging markets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Leverage seasonality more effectively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Strengthen ecosystem-based sales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H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Maintain a balanced omnichannel strategy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9F043-29A8-570B-982A-F0926F2AF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20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9B4B-A0B2-6C67-F1C0-CC896B94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452B8-7D1F-91E5-2B83-8BF931AA8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GH" dirty="0"/>
              <a:t>Thank you!!!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34170C-22C2-E6C2-FCB4-CB73CC743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972" y="6222260"/>
            <a:ext cx="947656" cy="2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6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719</Words>
  <Application>Microsoft Macintosh PowerPoint</Application>
  <PresentationFormat>Widescreen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Symbol</vt:lpstr>
      <vt:lpstr>Office Theme</vt:lpstr>
      <vt:lpstr>SAMSUNG SALES PERFORMANCE &amp; FORECAST REPORT </vt:lpstr>
      <vt:lpstr>OVERVIEW</vt:lpstr>
      <vt:lpstr>BUSINESS OBJECTIVE  </vt:lpstr>
      <vt:lpstr>PERFORMANCE OVERVIEW </vt:lpstr>
      <vt:lpstr>PowerPoint Presentation</vt:lpstr>
      <vt:lpstr>REGIONAL PERFORMANCE </vt:lpstr>
      <vt:lpstr>PowerPoint Presentation</vt:lpstr>
      <vt:lpstr>CATEGORY PERFORMANCE </vt:lpstr>
      <vt:lpstr>SALES CHANNELS </vt:lpstr>
      <vt:lpstr>PowerPoint Presentation</vt:lpstr>
      <vt:lpstr>MONTHLY TRENDS </vt:lpstr>
      <vt:lpstr>PowerPoint Presentation</vt:lpstr>
      <vt:lpstr>YEARLY TRENDS </vt:lpstr>
      <vt:lpstr>PowerPoint Presentation</vt:lpstr>
      <vt:lpstr>FORECASTING ANALYSIS</vt:lpstr>
      <vt:lpstr>PowerPoint Presentation</vt:lpstr>
      <vt:lpstr>PowerPoint Presentation</vt:lpstr>
      <vt:lpstr>PowerPoint Presentation</vt:lpstr>
      <vt:lpstr>FORECAST INSIGHTS &amp; BUSINESS IMPLICATIONS </vt:lpstr>
      <vt:lpstr>STRATEGIC GROWTH OPPORTUNITIES </vt:lpstr>
      <vt:lpstr>STRATEGIC GROWTH OPPORTUNITIES II </vt:lpstr>
      <vt:lpstr>STRATEGIC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2026-03-26T06:12:58Z</dcterms:created>
  <dcterms:modified xsi:type="dcterms:W3CDTF">2026-03-26T07:40:51Z</dcterms:modified>
</cp:coreProperties>
</file>